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8" r:id="rId3"/>
    <p:sldId id="261" r:id="rId4"/>
    <p:sldId id="257" r:id="rId5"/>
    <p:sldId id="260" r:id="rId6"/>
    <p:sldId id="259"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8" d="100"/>
          <a:sy n="68" d="100"/>
        </p:scale>
        <p:origin x="616"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EF58D-B62B-40BB-83AA-9D07CFC4ED2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6AC06D3-F571-4213-A2A4-6A1915120CE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5A10580-AD31-4B8F-8448-55A666AC1725}"/>
              </a:ext>
            </a:extLst>
          </p:cNvPr>
          <p:cNvSpPr>
            <a:spLocks noGrp="1"/>
          </p:cNvSpPr>
          <p:nvPr>
            <p:ph type="dt" sz="half" idx="10"/>
          </p:nvPr>
        </p:nvSpPr>
        <p:spPr/>
        <p:txBody>
          <a:bodyPr/>
          <a:lstStyle/>
          <a:p>
            <a:fld id="{0DAF61AA-5A98-4049-A93E-477E5505141A}" type="datetimeFigureOut">
              <a:rPr lang="en-US" smtClean="0"/>
              <a:t>4/27/2025</a:t>
            </a:fld>
            <a:endParaRPr lang="en-US" dirty="0"/>
          </a:p>
        </p:txBody>
      </p:sp>
      <p:sp>
        <p:nvSpPr>
          <p:cNvPr id="5" name="Footer Placeholder 4">
            <a:extLst>
              <a:ext uri="{FF2B5EF4-FFF2-40B4-BE49-F238E27FC236}">
                <a16:creationId xmlns:a16="http://schemas.microsoft.com/office/drawing/2014/main" id="{15EC99C8-515A-4FEA-9CD2-6D0BF46CF6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72AF1B-1868-4C05-B6C3-9EBF29A50AD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2465858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6D384-B2C5-42A4-9774-A931C39BA53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8D736C-5FCC-43BC-B824-A90F2CC5D19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4A3A50-B922-45BE-945D-7ED3EBD83F7C}"/>
              </a:ext>
            </a:extLst>
          </p:cNvPr>
          <p:cNvSpPr>
            <a:spLocks noGrp="1"/>
          </p:cNvSpPr>
          <p:nvPr>
            <p:ph type="dt" sz="half" idx="10"/>
          </p:nvPr>
        </p:nvSpPr>
        <p:spPr/>
        <p:txBody>
          <a:bodyPr/>
          <a:lstStyle/>
          <a:p>
            <a:fld id="{0DAF61AA-5A98-4049-A93E-477E5505141A}" type="datetimeFigureOut">
              <a:rPr lang="en-US" smtClean="0"/>
              <a:t>4/27/2025</a:t>
            </a:fld>
            <a:endParaRPr lang="en-US"/>
          </a:p>
        </p:txBody>
      </p:sp>
      <p:sp>
        <p:nvSpPr>
          <p:cNvPr id="5" name="Footer Placeholder 4">
            <a:extLst>
              <a:ext uri="{FF2B5EF4-FFF2-40B4-BE49-F238E27FC236}">
                <a16:creationId xmlns:a16="http://schemas.microsoft.com/office/drawing/2014/main" id="{64241F78-20DE-4D53-BB25-79E5C4E1AB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643084-C669-4FDF-87D4-F22D36BB827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42496486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6C559-800C-489A-9174-7901F92B0D4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142B5C3-320B-4CFD-B6A7-A28C7E435B4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2FCA372-3F42-4113-A73B-5FDCF93CB5BC}"/>
              </a:ext>
            </a:extLst>
          </p:cNvPr>
          <p:cNvSpPr>
            <a:spLocks noGrp="1"/>
          </p:cNvSpPr>
          <p:nvPr>
            <p:ph type="dt" sz="half" idx="10"/>
          </p:nvPr>
        </p:nvSpPr>
        <p:spPr/>
        <p:txBody>
          <a:bodyPr/>
          <a:lstStyle/>
          <a:p>
            <a:fld id="{0DAF61AA-5A98-4049-A93E-477E5505141A}" type="datetimeFigureOut">
              <a:rPr lang="en-US" smtClean="0"/>
              <a:t>4/27/2025</a:t>
            </a:fld>
            <a:endParaRPr lang="en-US"/>
          </a:p>
        </p:txBody>
      </p:sp>
      <p:sp>
        <p:nvSpPr>
          <p:cNvPr id="5" name="Footer Placeholder 4">
            <a:extLst>
              <a:ext uri="{FF2B5EF4-FFF2-40B4-BE49-F238E27FC236}">
                <a16:creationId xmlns:a16="http://schemas.microsoft.com/office/drawing/2014/main" id="{F0DA1197-0C78-4878-B086-5D206EA491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B83D8-FD42-44FF-AA20-944A519CC0B2}"/>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9841944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685AA-B5C7-4E3D-85FA-94F3C73E59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03AFEEA-6F3F-4630-A950-61C05D2FAFB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AC36817-B869-4D19-9EE8-A3166B0E159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C074146-2374-4321-AEBB-3E9B09D7796D}"/>
              </a:ext>
            </a:extLst>
          </p:cNvPr>
          <p:cNvSpPr>
            <a:spLocks noGrp="1"/>
          </p:cNvSpPr>
          <p:nvPr>
            <p:ph type="dt" sz="half" idx="10"/>
          </p:nvPr>
        </p:nvSpPr>
        <p:spPr/>
        <p:txBody>
          <a:bodyPr/>
          <a:lstStyle/>
          <a:p>
            <a:fld id="{0DAF61AA-5A98-4049-A93E-477E5505141A}" type="datetimeFigureOut">
              <a:rPr lang="en-US" smtClean="0"/>
              <a:t>4/27/2025</a:t>
            </a:fld>
            <a:endParaRPr lang="en-US"/>
          </a:p>
        </p:txBody>
      </p:sp>
      <p:sp>
        <p:nvSpPr>
          <p:cNvPr id="6" name="Footer Placeholder 5">
            <a:extLst>
              <a:ext uri="{FF2B5EF4-FFF2-40B4-BE49-F238E27FC236}">
                <a16:creationId xmlns:a16="http://schemas.microsoft.com/office/drawing/2014/main" id="{2C42337B-B902-4DC2-BB94-02B8A75492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4AD585-B83C-4ECF-AF42-8DDF6996B79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7557528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A9ADB-3495-481F-BB4E-9C7128B17B1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ED6FF4C-26CB-4281-A2F7-6CBE451867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F2E72A9-F222-45B4-9355-C04C058641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A699F6E-77AD-4EBC-BAF9-5A43CDEC41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F77677-7169-4591-B047-0678815F48E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482A6EB-0285-4FA4-A00C-A7F716084FD3}"/>
              </a:ext>
            </a:extLst>
          </p:cNvPr>
          <p:cNvSpPr>
            <a:spLocks noGrp="1"/>
          </p:cNvSpPr>
          <p:nvPr>
            <p:ph type="dt" sz="half" idx="10"/>
          </p:nvPr>
        </p:nvSpPr>
        <p:spPr/>
        <p:txBody>
          <a:bodyPr/>
          <a:lstStyle/>
          <a:p>
            <a:fld id="{0DAF61AA-5A98-4049-A93E-477E5505141A}" type="datetimeFigureOut">
              <a:rPr lang="en-US" smtClean="0"/>
              <a:t>4/27/2025</a:t>
            </a:fld>
            <a:endParaRPr lang="en-US"/>
          </a:p>
        </p:txBody>
      </p:sp>
      <p:sp>
        <p:nvSpPr>
          <p:cNvPr id="8" name="Footer Placeholder 7">
            <a:extLst>
              <a:ext uri="{FF2B5EF4-FFF2-40B4-BE49-F238E27FC236}">
                <a16:creationId xmlns:a16="http://schemas.microsoft.com/office/drawing/2014/main" id="{86D39526-82B8-402C-8A2B-82EF8F3F3A7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55EC9E6-6FF1-4541-9CB1-A2FF9D852169}"/>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776649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70F54-6CED-4251-A0A6-32CCD1213F8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572C8E6-49D6-46A5-8DC3-B0D8E683C9CB}"/>
              </a:ext>
            </a:extLst>
          </p:cNvPr>
          <p:cNvSpPr>
            <a:spLocks noGrp="1"/>
          </p:cNvSpPr>
          <p:nvPr>
            <p:ph type="dt" sz="half" idx="10"/>
          </p:nvPr>
        </p:nvSpPr>
        <p:spPr/>
        <p:txBody>
          <a:bodyPr/>
          <a:lstStyle/>
          <a:p>
            <a:fld id="{0DAF61AA-5A98-4049-A93E-477E5505141A}" type="datetimeFigureOut">
              <a:rPr lang="en-US" smtClean="0"/>
              <a:t>4/27/2025</a:t>
            </a:fld>
            <a:endParaRPr lang="en-US"/>
          </a:p>
        </p:txBody>
      </p:sp>
      <p:sp>
        <p:nvSpPr>
          <p:cNvPr id="4" name="Footer Placeholder 3">
            <a:extLst>
              <a:ext uri="{FF2B5EF4-FFF2-40B4-BE49-F238E27FC236}">
                <a16:creationId xmlns:a16="http://schemas.microsoft.com/office/drawing/2014/main" id="{AB883CBA-77CD-4490-A5F3-BAA8FC254A3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EA5FF79-61B6-4693-8547-95B1F2F7A194}"/>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5841848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BDCB94-13E9-41CB-88F0-D30A1791DCBA}"/>
              </a:ext>
            </a:extLst>
          </p:cNvPr>
          <p:cNvSpPr>
            <a:spLocks noGrp="1"/>
          </p:cNvSpPr>
          <p:nvPr>
            <p:ph type="dt" sz="half" idx="10"/>
          </p:nvPr>
        </p:nvSpPr>
        <p:spPr/>
        <p:txBody>
          <a:bodyPr/>
          <a:lstStyle/>
          <a:p>
            <a:fld id="{0DAF61AA-5A98-4049-A93E-477E5505141A}" type="datetimeFigureOut">
              <a:rPr lang="en-US" smtClean="0"/>
              <a:t>4/27/2025</a:t>
            </a:fld>
            <a:endParaRPr lang="en-US"/>
          </a:p>
        </p:txBody>
      </p:sp>
      <p:sp>
        <p:nvSpPr>
          <p:cNvPr id="3" name="Footer Placeholder 2">
            <a:extLst>
              <a:ext uri="{FF2B5EF4-FFF2-40B4-BE49-F238E27FC236}">
                <a16:creationId xmlns:a16="http://schemas.microsoft.com/office/drawing/2014/main" id="{244795A4-736C-426D-8559-5AD5892756A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B2A2ACD-17F3-4C16-8E77-86EC92CCD552}"/>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2101746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FCB2E-B68A-48F9-8B20-CDED818FB6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D081C83-64B5-4BFD-A163-75C2EA7F89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25D44AD-E361-48A3-936D-DDA0D51445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EED06C-E016-489C-8863-EA1BE998BC48}"/>
              </a:ext>
            </a:extLst>
          </p:cNvPr>
          <p:cNvSpPr>
            <a:spLocks noGrp="1"/>
          </p:cNvSpPr>
          <p:nvPr>
            <p:ph type="dt" sz="half" idx="10"/>
          </p:nvPr>
        </p:nvSpPr>
        <p:spPr/>
        <p:txBody>
          <a:bodyPr/>
          <a:lstStyle/>
          <a:p>
            <a:fld id="{0DAF61AA-5A98-4049-A93E-477E5505141A}" type="datetimeFigureOut">
              <a:rPr lang="en-US" smtClean="0"/>
              <a:t>4/27/2025</a:t>
            </a:fld>
            <a:endParaRPr lang="en-US"/>
          </a:p>
        </p:txBody>
      </p:sp>
      <p:sp>
        <p:nvSpPr>
          <p:cNvPr id="6" name="Footer Placeholder 5">
            <a:extLst>
              <a:ext uri="{FF2B5EF4-FFF2-40B4-BE49-F238E27FC236}">
                <a16:creationId xmlns:a16="http://schemas.microsoft.com/office/drawing/2014/main" id="{359161F0-D253-49A7-9A08-7A0A228146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42C61A-B326-40A7-A286-90D0544BBC34}"/>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2122260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2DF6F-D00F-4CE4-8701-B006273461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A0FF7AB-F851-4425-8407-996C920E68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2ED6CF5-154F-4615-8CDC-E2BFA61FAB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A5C400-0D13-495F-8C4E-EC3CDF5F22AF}"/>
              </a:ext>
            </a:extLst>
          </p:cNvPr>
          <p:cNvSpPr>
            <a:spLocks noGrp="1"/>
          </p:cNvSpPr>
          <p:nvPr>
            <p:ph type="dt" sz="half" idx="10"/>
          </p:nvPr>
        </p:nvSpPr>
        <p:spPr/>
        <p:txBody>
          <a:bodyPr/>
          <a:lstStyle/>
          <a:p>
            <a:fld id="{0DAF61AA-5A98-4049-A93E-477E5505141A}" type="datetimeFigureOut">
              <a:rPr lang="en-US" smtClean="0"/>
              <a:t>4/27/2025</a:t>
            </a:fld>
            <a:endParaRPr lang="en-US"/>
          </a:p>
        </p:txBody>
      </p:sp>
      <p:sp>
        <p:nvSpPr>
          <p:cNvPr id="6" name="Footer Placeholder 5">
            <a:extLst>
              <a:ext uri="{FF2B5EF4-FFF2-40B4-BE49-F238E27FC236}">
                <a16:creationId xmlns:a16="http://schemas.microsoft.com/office/drawing/2014/main" id="{4CB290D7-98AC-45E5-A7D6-73520AFC73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94276C-2BD2-4C4F-AC04-DD3D73768A5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1602448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170B0-C1C5-4976-80E8-6B4F90EB362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97593EE-493E-4BCE-8992-24CA63E1E09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80919F-FDDD-42FB-8422-A0665D558D00}"/>
              </a:ext>
            </a:extLst>
          </p:cNvPr>
          <p:cNvSpPr>
            <a:spLocks noGrp="1"/>
          </p:cNvSpPr>
          <p:nvPr>
            <p:ph type="dt" sz="half" idx="10"/>
          </p:nvPr>
        </p:nvSpPr>
        <p:spPr/>
        <p:txBody>
          <a:bodyPr/>
          <a:lstStyle/>
          <a:p>
            <a:fld id="{0DAF61AA-5A98-4049-A93E-477E5505141A}" type="datetimeFigureOut">
              <a:rPr lang="en-US" smtClean="0"/>
              <a:t>4/27/2025</a:t>
            </a:fld>
            <a:endParaRPr lang="en-US"/>
          </a:p>
        </p:txBody>
      </p:sp>
      <p:sp>
        <p:nvSpPr>
          <p:cNvPr id="5" name="Footer Placeholder 4">
            <a:extLst>
              <a:ext uri="{FF2B5EF4-FFF2-40B4-BE49-F238E27FC236}">
                <a16:creationId xmlns:a16="http://schemas.microsoft.com/office/drawing/2014/main" id="{A216D38A-35F8-4667-A1F4-49644471E9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9CC230-78B7-487B-9C95-CB00868F6F1F}"/>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3587080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14CB826-D9AA-4689-B8C0-38D999F0D06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61F1CDD-16FB-45E0-9887-24374C56764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846397-BBD2-4426-B1F5-FD6EA3CDC866}"/>
              </a:ext>
            </a:extLst>
          </p:cNvPr>
          <p:cNvSpPr>
            <a:spLocks noGrp="1"/>
          </p:cNvSpPr>
          <p:nvPr>
            <p:ph type="dt" sz="half" idx="10"/>
          </p:nvPr>
        </p:nvSpPr>
        <p:spPr/>
        <p:txBody>
          <a:bodyPr/>
          <a:lstStyle/>
          <a:p>
            <a:fld id="{0DAF61AA-5A98-4049-A93E-477E5505141A}" type="datetimeFigureOut">
              <a:rPr lang="en-US" smtClean="0"/>
              <a:t>4/27/2025</a:t>
            </a:fld>
            <a:endParaRPr lang="en-US"/>
          </a:p>
        </p:txBody>
      </p:sp>
      <p:sp>
        <p:nvSpPr>
          <p:cNvPr id="5" name="Footer Placeholder 4">
            <a:extLst>
              <a:ext uri="{FF2B5EF4-FFF2-40B4-BE49-F238E27FC236}">
                <a16:creationId xmlns:a16="http://schemas.microsoft.com/office/drawing/2014/main" id="{FDAB91E4-73D0-4ACD-8F54-00EE6FB1D6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B28C61-59FE-44D6-A7D6-AAD292232778}"/>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0979557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47A131F-D5DE-41A5-B4CF-4F345319B40B}"/>
              </a:ext>
            </a:extLst>
          </p:cNvPr>
          <p:cNvSpPr/>
          <p:nvPr/>
        </p:nvSpPr>
        <p:spPr>
          <a:xfrm>
            <a:off x="0" y="0"/>
            <a:ext cx="12188952" cy="6858000"/>
          </a:xfrm>
          <a:prstGeom prst="rect">
            <a:avLst/>
          </a:prstGeom>
          <a:solidFill>
            <a:schemeClr val="bg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8" name="Freeform: Shape 7">
            <a:extLst>
              <a:ext uri="{FF2B5EF4-FFF2-40B4-BE49-F238E27FC236}">
                <a16:creationId xmlns:a16="http://schemas.microsoft.com/office/drawing/2014/main" id="{3AF4666D-BD98-40A5-A75F-478B982010B2}"/>
              </a:ext>
            </a:extLst>
          </p:cNvPr>
          <p:cNvSpPr/>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tx1">
                    <a:lumMod val="65000"/>
                    <a:lumOff val="35000"/>
                  </a:schemeClr>
                </a:solidFill>
                <a:latin typeface="AvenirNext LT Pro Medium" panose="020B0504020202020204" pitchFamily="34" charset="0"/>
              </a:rPr>
              <a:t> </a:t>
            </a:r>
          </a:p>
        </p:txBody>
      </p:sp>
      <p:sp>
        <p:nvSpPr>
          <p:cNvPr id="9" name="Freeform: Shape 8">
            <a:extLst>
              <a:ext uri="{FF2B5EF4-FFF2-40B4-BE49-F238E27FC236}">
                <a16:creationId xmlns:a16="http://schemas.microsoft.com/office/drawing/2014/main" id="{68680585-71F9-4721-A998-4974171D2EB4}"/>
              </a:ext>
            </a:extLst>
          </p:cNvPr>
          <p:cNvSpPr/>
          <p:nvPr/>
        </p:nvSpPr>
        <p:spPr>
          <a:xfrm>
            <a:off x="10439256" y="6172200"/>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tx1">
                    <a:lumMod val="65000"/>
                    <a:lumOff val="35000"/>
                  </a:schemeClr>
                </a:solidFill>
                <a:latin typeface="AvenirNext LT Pro Medium" panose="020B0504020202020204" pitchFamily="34" charset="0"/>
              </a:rPr>
              <a:t> </a:t>
            </a:r>
          </a:p>
        </p:txBody>
      </p:sp>
      <p:sp>
        <p:nvSpPr>
          <p:cNvPr id="10" name="Freeform: Shape 9">
            <a:extLst>
              <a:ext uri="{FF2B5EF4-FFF2-40B4-BE49-F238E27FC236}">
                <a16:creationId xmlns:a16="http://schemas.microsoft.com/office/drawing/2014/main" id="{12BC95C2-2EEC-4F59-ABA8-660B0D059CCF}"/>
              </a:ext>
            </a:extLst>
          </p:cNvPr>
          <p:cNvSpPr/>
          <p:nvPr/>
        </p:nvSpPr>
        <p:spPr>
          <a:xfrm>
            <a:off x="7977352"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1" name="Graphic 141">
            <a:extLst>
              <a:ext uri="{FF2B5EF4-FFF2-40B4-BE49-F238E27FC236}">
                <a16:creationId xmlns:a16="http://schemas.microsoft.com/office/drawing/2014/main" id="{03E9870D-4BBA-43AF-8D44-BBADF020CFF6}"/>
              </a:ext>
            </a:extLst>
          </p:cNvPr>
          <p:cNvGrpSpPr/>
          <p:nvPr/>
        </p:nvGrpSpPr>
        <p:grpSpPr>
          <a:xfrm>
            <a:off x="10849" y="15178"/>
            <a:ext cx="2198951" cy="3331254"/>
            <a:chOff x="4473129" y="923925"/>
            <a:chExt cx="3308947" cy="5012817"/>
          </a:xfrm>
          <a:noFill/>
        </p:grpSpPr>
        <p:sp>
          <p:nvSpPr>
            <p:cNvPr id="12" name="Freeform: Shape 11">
              <a:extLst>
                <a:ext uri="{FF2B5EF4-FFF2-40B4-BE49-F238E27FC236}">
                  <a16:creationId xmlns:a16="http://schemas.microsoft.com/office/drawing/2014/main" id="{34BC5055-C77D-43CD-BB1D-A77B6779CDAD}"/>
                </a:ext>
              </a:extLst>
            </p:cNvPr>
            <p:cNvSpPr/>
            <p:nvPr/>
          </p:nvSpPr>
          <p:spPr>
            <a:xfrm>
              <a:off x="4485988" y="924020"/>
              <a:ext cx="3296088" cy="5012722"/>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75000"/>
                </a:schemeClr>
              </a:solidFill>
              <a:prstDash val="lgDash"/>
              <a:round/>
            </a:ln>
          </p:spPr>
          <p:txBody>
            <a:bodyPr rtlCol="0" anchor="ctr"/>
            <a:lstStyle/>
            <a:p>
              <a:endParaRPr lang="en-US"/>
            </a:p>
          </p:txBody>
        </p:sp>
        <p:sp>
          <p:nvSpPr>
            <p:cNvPr id="13" name="Freeform: Shape 12">
              <a:extLst>
                <a:ext uri="{FF2B5EF4-FFF2-40B4-BE49-F238E27FC236}">
                  <a16:creationId xmlns:a16="http://schemas.microsoft.com/office/drawing/2014/main" id="{DB12D0B8-9385-489A-85AE-3D14AD0BA2FC}"/>
                </a:ext>
              </a:extLst>
            </p:cNvPr>
            <p:cNvSpPr/>
            <p:nvPr/>
          </p:nvSpPr>
          <p:spPr>
            <a:xfrm>
              <a:off x="4473129" y="923925"/>
              <a:ext cx="2977477" cy="462714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75000"/>
                </a:schemeClr>
              </a:solidFill>
              <a:prstDash val="lgDash"/>
              <a:round/>
            </a:ln>
          </p:spPr>
          <p:txBody>
            <a:bodyPr rtlCol="0" anchor="ctr"/>
            <a:lstStyle/>
            <a:p>
              <a:endParaRPr lang="en-US"/>
            </a:p>
          </p:txBody>
        </p:sp>
        <p:sp>
          <p:nvSpPr>
            <p:cNvPr id="14" name="Freeform: Shape 13">
              <a:extLst>
                <a:ext uri="{FF2B5EF4-FFF2-40B4-BE49-F238E27FC236}">
                  <a16:creationId xmlns:a16="http://schemas.microsoft.com/office/drawing/2014/main" id="{D158A14A-147E-4130-A5E2-38FD84B181AF}"/>
                </a:ext>
              </a:extLst>
            </p:cNvPr>
            <p:cNvSpPr/>
            <p:nvPr/>
          </p:nvSpPr>
          <p:spPr>
            <a:xfrm>
              <a:off x="4494561" y="923925"/>
              <a:ext cx="2356712" cy="4118991"/>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75000"/>
                </a:schemeClr>
              </a:solidFill>
              <a:prstDash val="lgDash"/>
              <a:round/>
            </a:ln>
          </p:spPr>
          <p:txBody>
            <a:bodyPr rtlCol="0" anchor="ctr"/>
            <a:lstStyle/>
            <a:p>
              <a:endParaRPr lang="en-US"/>
            </a:p>
          </p:txBody>
        </p:sp>
        <p:sp>
          <p:nvSpPr>
            <p:cNvPr id="15" name="Freeform: Shape 14">
              <a:extLst>
                <a:ext uri="{FF2B5EF4-FFF2-40B4-BE49-F238E27FC236}">
                  <a16:creationId xmlns:a16="http://schemas.microsoft.com/office/drawing/2014/main" id="{75B8B1EB-5E2B-472C-AE60-2EC5961F16F9}"/>
                </a:ext>
              </a:extLst>
            </p:cNvPr>
            <p:cNvSpPr/>
            <p:nvPr/>
          </p:nvSpPr>
          <p:spPr>
            <a:xfrm>
              <a:off x="4473129" y="923925"/>
              <a:ext cx="2059193" cy="3980116"/>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75000"/>
                </a:schemeClr>
              </a:solidFill>
              <a:prstDash val="lgDash"/>
              <a:round/>
            </a:ln>
          </p:spPr>
          <p:txBody>
            <a:bodyPr rtlCol="0" anchor="ctr"/>
            <a:lstStyle/>
            <a:p>
              <a:endParaRPr lang="en-US"/>
            </a:p>
          </p:txBody>
        </p:sp>
        <p:sp>
          <p:nvSpPr>
            <p:cNvPr id="16" name="Freeform: Shape 15">
              <a:extLst>
                <a:ext uri="{FF2B5EF4-FFF2-40B4-BE49-F238E27FC236}">
                  <a16:creationId xmlns:a16="http://schemas.microsoft.com/office/drawing/2014/main" id="{B4F5BD77-58D7-4B61-A666-1B4139A63A28}"/>
                </a:ext>
              </a:extLst>
            </p:cNvPr>
            <p:cNvSpPr/>
            <p:nvPr/>
          </p:nvSpPr>
          <p:spPr>
            <a:xfrm>
              <a:off x="4485131" y="1719357"/>
              <a:ext cx="743796" cy="2867501"/>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75000"/>
                </a:schemeClr>
              </a:solidFill>
              <a:prstDash val="lgDash"/>
              <a:round/>
            </a:ln>
          </p:spPr>
          <p:txBody>
            <a:bodyPr rtlCol="0" anchor="ctr"/>
            <a:lstStyle/>
            <a:p>
              <a:endParaRPr lang="en-US"/>
            </a:p>
          </p:txBody>
        </p:sp>
        <p:sp>
          <p:nvSpPr>
            <p:cNvPr id="17" name="Freeform: Shape 16">
              <a:extLst>
                <a:ext uri="{FF2B5EF4-FFF2-40B4-BE49-F238E27FC236}">
                  <a16:creationId xmlns:a16="http://schemas.microsoft.com/office/drawing/2014/main" id="{F5CBEC6B-EDB6-40B8-8771-E5AF41B8D698}"/>
                </a:ext>
              </a:extLst>
            </p:cNvPr>
            <p:cNvSpPr/>
            <p:nvPr/>
          </p:nvSpPr>
          <p:spPr>
            <a:xfrm>
              <a:off x="4473129" y="1912731"/>
              <a:ext cx="597294" cy="2543540"/>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75000"/>
                </a:schemeClr>
              </a:solidFill>
              <a:prstDash val="lgDash"/>
              <a:round/>
            </a:ln>
          </p:spPr>
          <p:txBody>
            <a:bodyPr rtlCol="0" anchor="ctr"/>
            <a:lstStyle/>
            <a:p>
              <a:endParaRPr lang="en-US"/>
            </a:p>
          </p:txBody>
        </p:sp>
        <p:sp>
          <p:nvSpPr>
            <p:cNvPr id="18" name="Freeform: Shape 17">
              <a:extLst>
                <a:ext uri="{FF2B5EF4-FFF2-40B4-BE49-F238E27FC236}">
                  <a16:creationId xmlns:a16="http://schemas.microsoft.com/office/drawing/2014/main" id="{91BD0EE8-AA47-4044-9251-9F5A4B820120}"/>
                </a:ext>
              </a:extLst>
            </p:cNvPr>
            <p:cNvSpPr/>
            <p:nvPr/>
          </p:nvSpPr>
          <p:spPr>
            <a:xfrm>
              <a:off x="4491417" y="2227197"/>
              <a:ext cx="389425" cy="2011236"/>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75000"/>
                </a:schemeClr>
              </a:solidFill>
              <a:prstDash val="lgDash"/>
              <a:round/>
            </a:ln>
          </p:spPr>
          <p:txBody>
            <a:bodyPr rtlCol="0" anchor="ctr"/>
            <a:lstStyle/>
            <a:p>
              <a:endParaRPr lang="en-US" dirty="0"/>
            </a:p>
          </p:txBody>
        </p:sp>
      </p:grpSp>
      <p:grpSp>
        <p:nvGrpSpPr>
          <p:cNvPr id="19" name="Graphic 157">
            <a:extLst>
              <a:ext uri="{FF2B5EF4-FFF2-40B4-BE49-F238E27FC236}">
                <a16:creationId xmlns:a16="http://schemas.microsoft.com/office/drawing/2014/main" id="{C3279E8D-2BAA-4CB1-834B-09FADD54DE56}"/>
              </a:ext>
            </a:extLst>
          </p:cNvPr>
          <p:cNvGrpSpPr/>
          <p:nvPr/>
        </p:nvGrpSpPr>
        <p:grpSpPr>
          <a:xfrm>
            <a:off x="8610600" y="3276600"/>
            <a:ext cx="3529260" cy="3581399"/>
            <a:chOff x="4114800" y="1423987"/>
            <a:chExt cx="3961542" cy="4007547"/>
          </a:xfrm>
          <a:noFill/>
        </p:grpSpPr>
        <p:sp>
          <p:nvSpPr>
            <p:cNvPr id="20" name="Freeform: Shape 19">
              <a:extLst>
                <a:ext uri="{FF2B5EF4-FFF2-40B4-BE49-F238E27FC236}">
                  <a16:creationId xmlns:a16="http://schemas.microsoft.com/office/drawing/2014/main" id="{3456F18E-4F61-486D-9CD6-65B30372C534}"/>
                </a:ext>
              </a:extLst>
            </p:cNvPr>
            <p:cNvSpPr/>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75000"/>
                </a:schemeClr>
              </a:solidFill>
              <a:prstDash val="lgDash"/>
              <a:round/>
            </a:ln>
          </p:spPr>
          <p:txBody>
            <a:bodyPr rtlCol="0" anchor="ctr"/>
            <a:lstStyle/>
            <a:p>
              <a:endParaRPr lang="en-US"/>
            </a:p>
          </p:txBody>
        </p:sp>
        <p:sp>
          <p:nvSpPr>
            <p:cNvPr id="21" name="Freeform: Shape 20">
              <a:extLst>
                <a:ext uri="{FF2B5EF4-FFF2-40B4-BE49-F238E27FC236}">
                  <a16:creationId xmlns:a16="http://schemas.microsoft.com/office/drawing/2014/main" id="{318DDF45-08F0-46B6-A0B7-133735C94F47}"/>
                </a:ext>
              </a:extLst>
            </p:cNvPr>
            <p:cNvSpPr/>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75000"/>
                </a:schemeClr>
              </a:solidFill>
              <a:prstDash val="lgDash"/>
              <a:round/>
            </a:ln>
          </p:spPr>
          <p:txBody>
            <a:bodyPr rtlCol="0" anchor="ctr"/>
            <a:lstStyle/>
            <a:p>
              <a:endParaRPr lang="en-US"/>
            </a:p>
          </p:txBody>
        </p:sp>
        <p:sp>
          <p:nvSpPr>
            <p:cNvPr id="22" name="Freeform: Shape 21">
              <a:extLst>
                <a:ext uri="{FF2B5EF4-FFF2-40B4-BE49-F238E27FC236}">
                  <a16:creationId xmlns:a16="http://schemas.microsoft.com/office/drawing/2014/main" id="{B9D0CC0F-710D-43F4-BC86-763767420133}"/>
                </a:ext>
              </a:extLst>
            </p:cNvPr>
            <p:cNvSpPr/>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75000"/>
                </a:schemeClr>
              </a:solidFill>
              <a:prstDash val="lgDash"/>
              <a:round/>
            </a:ln>
          </p:spPr>
          <p:txBody>
            <a:bodyPr rtlCol="0" anchor="ctr"/>
            <a:lstStyle/>
            <a:p>
              <a:endParaRPr lang="en-US"/>
            </a:p>
          </p:txBody>
        </p:sp>
        <p:sp>
          <p:nvSpPr>
            <p:cNvPr id="23" name="Freeform: Shape 22">
              <a:extLst>
                <a:ext uri="{FF2B5EF4-FFF2-40B4-BE49-F238E27FC236}">
                  <a16:creationId xmlns:a16="http://schemas.microsoft.com/office/drawing/2014/main" id="{6FB36AB6-CB81-495A-8A33-C0BCE67D6F23}"/>
                </a:ext>
              </a:extLst>
            </p:cNvPr>
            <p:cNvSpPr/>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75000"/>
                </a:schemeClr>
              </a:solidFill>
              <a:prstDash val="lgDash"/>
              <a:round/>
            </a:ln>
          </p:spPr>
          <p:txBody>
            <a:bodyPr rtlCol="0" anchor="ctr"/>
            <a:lstStyle/>
            <a:p>
              <a:endParaRPr lang="en-US"/>
            </a:p>
          </p:txBody>
        </p:sp>
        <p:sp>
          <p:nvSpPr>
            <p:cNvPr id="24" name="Freeform: Shape 23">
              <a:extLst>
                <a:ext uri="{FF2B5EF4-FFF2-40B4-BE49-F238E27FC236}">
                  <a16:creationId xmlns:a16="http://schemas.microsoft.com/office/drawing/2014/main" id="{1993F7E6-ABF6-482D-BEA5-B4E607DDB433}"/>
                </a:ext>
              </a:extLst>
            </p:cNvPr>
            <p:cNvSpPr/>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75000"/>
                </a:schemeClr>
              </a:solidFill>
              <a:prstDash val="lgDash"/>
              <a:round/>
            </a:ln>
          </p:spPr>
          <p:txBody>
            <a:bodyPr rtlCol="0" anchor="ctr"/>
            <a:lstStyle/>
            <a:p>
              <a:endParaRPr lang="en-US"/>
            </a:p>
          </p:txBody>
        </p:sp>
        <p:sp>
          <p:nvSpPr>
            <p:cNvPr id="25" name="Freeform: Shape 24">
              <a:extLst>
                <a:ext uri="{FF2B5EF4-FFF2-40B4-BE49-F238E27FC236}">
                  <a16:creationId xmlns:a16="http://schemas.microsoft.com/office/drawing/2014/main" id="{DCA0B097-C21A-40B4-95E4-2FFA9697F824}"/>
                </a:ext>
              </a:extLst>
            </p:cNvPr>
            <p:cNvSpPr/>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75000"/>
                </a:schemeClr>
              </a:solidFill>
              <a:prstDash val="lgDash"/>
              <a:round/>
            </a:ln>
          </p:spPr>
          <p:txBody>
            <a:bodyPr rtlCol="0" anchor="ctr"/>
            <a:lstStyle/>
            <a:p>
              <a:endParaRPr lang="en-US"/>
            </a:p>
          </p:txBody>
        </p:sp>
        <p:sp>
          <p:nvSpPr>
            <p:cNvPr id="26" name="Freeform: Shape 25">
              <a:extLst>
                <a:ext uri="{FF2B5EF4-FFF2-40B4-BE49-F238E27FC236}">
                  <a16:creationId xmlns:a16="http://schemas.microsoft.com/office/drawing/2014/main" id="{AB2AF0F5-7EAA-4BAB-8DE2-D84E124170FA}"/>
                </a:ext>
              </a:extLst>
            </p:cNvPr>
            <p:cNvSpPr/>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75000"/>
                </a:schemeClr>
              </a:solidFill>
              <a:prstDash val="lgDash"/>
              <a:round/>
            </a:ln>
          </p:spPr>
          <p:txBody>
            <a:bodyPr rtlCol="0" anchor="ctr"/>
            <a:lstStyle/>
            <a:p>
              <a:endParaRPr lang="en-US"/>
            </a:p>
          </p:txBody>
        </p:sp>
      </p:grpSp>
      <p:sp>
        <p:nvSpPr>
          <p:cNvPr id="2" name="Title Placeholder 1">
            <a:extLst>
              <a:ext uri="{FF2B5EF4-FFF2-40B4-BE49-F238E27FC236}">
                <a16:creationId xmlns:a16="http://schemas.microsoft.com/office/drawing/2014/main" id="{B760C036-BBCE-4F9E-AD56-DD36D4407B2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3A5D7EC-1E6A-473F-B5A4-18CDFB6CF9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F9981C7-34D5-49A4-949D-715FD4BD8FE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lang="en-US" sz="900" kern="1200" cap="all" spc="200" smtClean="0">
                <a:solidFill>
                  <a:schemeClr val="accent1"/>
                </a:solidFill>
                <a:latin typeface="+mn-lt"/>
                <a:ea typeface="+mn-ea"/>
                <a:cs typeface="Segoe UI Semilight" panose="020B0402040204020203" pitchFamily="34" charset="0"/>
              </a:defRPr>
            </a:lvl1pPr>
          </a:lstStyle>
          <a:p>
            <a:fld id="{0DAF61AA-5A98-4049-A93E-477E5505141A}" type="datetimeFigureOut">
              <a:rPr lang="en-US" smtClean="0"/>
              <a:pPr/>
              <a:t>4/27/2025</a:t>
            </a:fld>
            <a:endParaRPr lang="en-US" dirty="0"/>
          </a:p>
        </p:txBody>
      </p:sp>
      <p:sp>
        <p:nvSpPr>
          <p:cNvPr id="5" name="Footer Placeholder 4">
            <a:extLst>
              <a:ext uri="{FF2B5EF4-FFF2-40B4-BE49-F238E27FC236}">
                <a16:creationId xmlns:a16="http://schemas.microsoft.com/office/drawing/2014/main" id="{FA85CE6E-733D-4C60-B40B-C7C10CB5AF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lang="en-US" sz="900" kern="1200" cap="all" spc="200" dirty="0">
                <a:solidFill>
                  <a:schemeClr val="accent1"/>
                </a:solidFill>
                <a:latin typeface="+mn-lt"/>
                <a:ea typeface="+mn-ea"/>
                <a:cs typeface="Segoe UI Semilight" panose="020B0402040204020203" pitchFamily="34" charset="0"/>
              </a:defRPr>
            </a:lvl1pPr>
          </a:lstStyle>
          <a:p>
            <a:endParaRPr lang="en-US"/>
          </a:p>
        </p:txBody>
      </p:sp>
      <p:sp>
        <p:nvSpPr>
          <p:cNvPr id="6" name="Slide Number Placeholder 5">
            <a:extLst>
              <a:ext uri="{FF2B5EF4-FFF2-40B4-BE49-F238E27FC236}">
                <a16:creationId xmlns:a16="http://schemas.microsoft.com/office/drawing/2014/main" id="{92D80D8B-7909-4114-8EBA-C3086DC62B08}"/>
              </a:ext>
            </a:extLst>
          </p:cNvPr>
          <p:cNvSpPr>
            <a:spLocks noGrp="1"/>
          </p:cNvSpPr>
          <p:nvPr>
            <p:ph type="sldNum" sz="quarter" idx="4"/>
          </p:nvPr>
        </p:nvSpPr>
        <p:spPr>
          <a:xfrm>
            <a:off x="9906000" y="6356350"/>
            <a:ext cx="1447800" cy="365125"/>
          </a:xfrm>
          <a:prstGeom prst="rect">
            <a:avLst/>
          </a:prstGeom>
        </p:spPr>
        <p:txBody>
          <a:bodyPr vert="horz" lIns="91440" tIns="45720" rIns="91440" bIns="45720" rtlCol="0" anchor="ctr"/>
          <a:lstStyle>
            <a:lvl1pPr algn="r">
              <a:defRPr lang="en-US" sz="900" kern="1200" cap="all" spc="200" smtClean="0">
                <a:solidFill>
                  <a:schemeClr val="accent1"/>
                </a:solidFill>
                <a:latin typeface="+mn-lt"/>
                <a:ea typeface="+mn-ea"/>
                <a:cs typeface="Segoe UI Semilight" panose="020B0402040204020203" pitchFamily="34" charset="0"/>
              </a:defRPr>
            </a:lvl1pPr>
          </a:lstStyle>
          <a:p>
            <a:fld id="{73B850FF-6169-4056-8077-06FFA93A5366}" type="slidenum">
              <a:rPr lang="en-US" smtClean="0"/>
              <a:pPr/>
              <a:t>‹#›</a:t>
            </a:fld>
            <a:endParaRPr lang="en-US"/>
          </a:p>
        </p:txBody>
      </p:sp>
    </p:spTree>
    <p:extLst>
      <p:ext uri="{BB962C8B-B14F-4D97-AF65-F5344CB8AC3E}">
        <p14:creationId xmlns:p14="http://schemas.microsoft.com/office/powerpoint/2010/main" val="101715207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100000"/>
        </a:lnSpc>
        <a:spcBef>
          <a:spcPct val="0"/>
        </a:spcBef>
        <a:buNone/>
        <a:defRPr sz="4400" kern="120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accent5"/>
        </a:buClr>
        <a:buFont typeface="Avenir Next LT Pro" panose="020B0504020202020204" pitchFamily="34" charset="0"/>
        <a:buChar char="+"/>
        <a:defRPr sz="2800" kern="1200">
          <a:solidFill>
            <a:schemeClr val="tx2"/>
          </a:solidFill>
          <a:latin typeface="+mn-lt"/>
          <a:ea typeface="+mn-ea"/>
          <a:cs typeface="+mn-cs"/>
        </a:defRPr>
      </a:lvl1pPr>
      <a:lvl2pPr marL="6858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2400" kern="1200">
          <a:solidFill>
            <a:schemeClr val="tx2"/>
          </a:solidFill>
          <a:latin typeface="+mn-lt"/>
          <a:ea typeface="+mn-ea"/>
          <a:cs typeface="+mn-cs"/>
        </a:defRPr>
      </a:lvl2pPr>
      <a:lvl3pPr marL="11430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2000" kern="1200">
          <a:solidFill>
            <a:schemeClr val="tx2"/>
          </a:solidFill>
          <a:latin typeface="+mn-lt"/>
          <a:ea typeface="+mn-ea"/>
          <a:cs typeface="+mn-cs"/>
        </a:defRPr>
      </a:lvl3pPr>
      <a:lvl4pPr marL="16002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A506F-637D-69C2-B372-650F7D59B00E}"/>
              </a:ext>
            </a:extLst>
          </p:cNvPr>
          <p:cNvSpPr>
            <a:spLocks noGrp="1"/>
          </p:cNvSpPr>
          <p:nvPr>
            <p:ph type="ctrTitle"/>
          </p:nvPr>
        </p:nvSpPr>
        <p:spPr/>
        <p:txBody>
          <a:bodyPr/>
          <a:lstStyle/>
          <a:p>
            <a:r>
              <a:rPr lang="en-IN" dirty="0"/>
              <a:t>Heart Disease Prediction</a:t>
            </a:r>
          </a:p>
        </p:txBody>
      </p:sp>
      <p:sp>
        <p:nvSpPr>
          <p:cNvPr id="3" name="Subtitle 2">
            <a:extLst>
              <a:ext uri="{FF2B5EF4-FFF2-40B4-BE49-F238E27FC236}">
                <a16:creationId xmlns:a16="http://schemas.microsoft.com/office/drawing/2014/main" id="{EA629264-491F-714E-62BD-8FDF404B937A}"/>
              </a:ext>
            </a:extLst>
          </p:cNvPr>
          <p:cNvSpPr>
            <a:spLocks noGrp="1"/>
          </p:cNvSpPr>
          <p:nvPr>
            <p:ph type="subTitle" idx="1"/>
          </p:nvPr>
        </p:nvSpPr>
        <p:spPr>
          <a:xfrm>
            <a:off x="1524000" y="3509963"/>
            <a:ext cx="9144000" cy="1655762"/>
          </a:xfrm>
        </p:spPr>
        <p:txBody>
          <a:bodyPr/>
          <a:lstStyle/>
          <a:p>
            <a:r>
              <a:rPr lang="en-IN" dirty="0"/>
              <a:t>Using Machine Learning With Flask-main</a:t>
            </a:r>
          </a:p>
        </p:txBody>
      </p:sp>
      <p:sp>
        <p:nvSpPr>
          <p:cNvPr id="4" name="TextBox 3">
            <a:extLst>
              <a:ext uri="{FF2B5EF4-FFF2-40B4-BE49-F238E27FC236}">
                <a16:creationId xmlns:a16="http://schemas.microsoft.com/office/drawing/2014/main" id="{78874BCD-8443-6F0A-4B5F-4892C0BA2CEA}"/>
              </a:ext>
            </a:extLst>
          </p:cNvPr>
          <p:cNvSpPr txBox="1"/>
          <p:nvPr/>
        </p:nvSpPr>
        <p:spPr>
          <a:xfrm>
            <a:off x="5205371" y="5716620"/>
            <a:ext cx="1781257" cy="830997"/>
          </a:xfrm>
          <a:prstGeom prst="rect">
            <a:avLst/>
          </a:prstGeom>
          <a:noFill/>
        </p:spPr>
        <p:txBody>
          <a:bodyPr wrap="none" rtlCol="0">
            <a:spAutoFit/>
          </a:bodyPr>
          <a:lstStyle/>
          <a:p>
            <a:r>
              <a:rPr lang="en-IN" sz="2400" dirty="0"/>
              <a:t>DHINESH S</a:t>
            </a:r>
          </a:p>
          <a:p>
            <a:r>
              <a:rPr lang="en-IN" sz="2400" dirty="0"/>
              <a:t>20MSS009</a:t>
            </a:r>
          </a:p>
        </p:txBody>
      </p:sp>
    </p:spTree>
    <p:extLst>
      <p:ext uri="{BB962C8B-B14F-4D97-AF65-F5344CB8AC3E}">
        <p14:creationId xmlns:p14="http://schemas.microsoft.com/office/powerpoint/2010/main" val="19613738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DD878-C6E8-2EF8-C523-DC713C0FA9B6}"/>
              </a:ext>
            </a:extLst>
          </p:cNvPr>
          <p:cNvSpPr>
            <a:spLocks noGrp="1"/>
          </p:cNvSpPr>
          <p:nvPr>
            <p:ph type="title"/>
          </p:nvPr>
        </p:nvSpPr>
        <p:spPr>
          <a:xfrm>
            <a:off x="263165" y="629075"/>
            <a:ext cx="10515600" cy="1325563"/>
          </a:xfrm>
        </p:spPr>
        <p:txBody>
          <a:bodyPr/>
          <a:lstStyle/>
          <a:p>
            <a:r>
              <a:rPr lang="en-IN" dirty="0"/>
              <a:t>Introduction</a:t>
            </a:r>
          </a:p>
        </p:txBody>
      </p:sp>
      <p:sp>
        <p:nvSpPr>
          <p:cNvPr id="4" name="Rectangle 1">
            <a:extLst>
              <a:ext uri="{FF2B5EF4-FFF2-40B4-BE49-F238E27FC236}">
                <a16:creationId xmlns:a16="http://schemas.microsoft.com/office/drawing/2014/main" id="{B1133867-E020-D464-01F8-8471C89EBE17}"/>
              </a:ext>
            </a:extLst>
          </p:cNvPr>
          <p:cNvSpPr>
            <a:spLocks noGrp="1" noChangeArrowheads="1"/>
          </p:cNvSpPr>
          <p:nvPr>
            <p:ph idx="1"/>
          </p:nvPr>
        </p:nvSpPr>
        <p:spPr bwMode="auto">
          <a:xfrm>
            <a:off x="159470" y="2128040"/>
            <a:ext cx="12665775" cy="2954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venir Next LT Pro (Body)"/>
              </a:rPr>
              <a:t>Heart disease is a leading cause of death worldwide. </a:t>
            </a:r>
            <a:br>
              <a:rPr kumimoji="0" lang="en-US" altLang="en-US" sz="2400" b="0" i="0" u="none" strike="noStrike" cap="none" normalizeH="0" baseline="0" dirty="0">
                <a:ln>
                  <a:noFill/>
                </a:ln>
                <a:solidFill>
                  <a:schemeClr val="tx1"/>
                </a:solidFill>
                <a:effectLst/>
                <a:latin typeface="Avenir Next LT Pro (Body)"/>
              </a:rPr>
            </a:br>
            <a:endParaRPr kumimoji="0" lang="en-US" altLang="en-US" sz="2400" b="0" i="0" u="none" strike="noStrike" cap="none" normalizeH="0" baseline="0" dirty="0">
              <a:ln>
                <a:noFill/>
              </a:ln>
              <a:solidFill>
                <a:schemeClr val="tx1"/>
              </a:solidFill>
              <a:effectLst/>
              <a:latin typeface="Avenir Next LT Pro (Body)"/>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venir Next LT Pro (Body)"/>
              </a:rPr>
              <a:t>Early diagnosis can help prevent serious complications.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Avenir Next LT Pro (Body)"/>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venir Next LT Pro (Body)"/>
              </a:rPr>
              <a:t>Machine learning (ML) provides an accurate and efficient method for disease prediction.</a:t>
            </a:r>
            <a:br>
              <a:rPr kumimoji="0" lang="en-US" altLang="en-US" sz="2400" b="0" i="0" u="none" strike="noStrike" cap="none" normalizeH="0" baseline="0" dirty="0">
                <a:ln>
                  <a:noFill/>
                </a:ln>
                <a:solidFill>
                  <a:schemeClr val="tx1"/>
                </a:solidFill>
                <a:effectLst/>
                <a:latin typeface="Avenir Next LT Pro (Body)"/>
              </a:rPr>
            </a:br>
            <a:r>
              <a:rPr kumimoji="0" lang="en-US" altLang="en-US" sz="2400" b="0" i="0" u="none" strike="noStrike" cap="none" normalizeH="0" baseline="0" dirty="0">
                <a:ln>
                  <a:noFill/>
                </a:ln>
                <a:solidFill>
                  <a:schemeClr val="tx1"/>
                </a:solidFill>
                <a:effectLst/>
                <a:latin typeface="Avenir Next LT Pro (Body)"/>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venir Next LT Pro (Body)"/>
              </a:rPr>
              <a:t>Objective:</a:t>
            </a:r>
            <a:r>
              <a:rPr kumimoji="0" lang="en-US" altLang="en-US" sz="2400" b="0" i="0" u="none" strike="noStrike" cap="none" normalizeH="0" baseline="0" dirty="0">
                <a:ln>
                  <a:noFill/>
                </a:ln>
                <a:solidFill>
                  <a:schemeClr val="tx1"/>
                </a:solidFill>
                <a:effectLst/>
                <a:latin typeface="Avenir Next LT Pro (Body)"/>
              </a:rPr>
              <a:t> Develop a heart disease prediction system using ML and Flask. </a:t>
            </a:r>
          </a:p>
        </p:txBody>
      </p:sp>
    </p:spTree>
    <p:extLst>
      <p:ext uri="{BB962C8B-B14F-4D97-AF65-F5344CB8AC3E}">
        <p14:creationId xmlns:p14="http://schemas.microsoft.com/office/powerpoint/2010/main" val="34977064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12024-24A8-8B8B-506B-0FDDBC731CBA}"/>
              </a:ext>
            </a:extLst>
          </p:cNvPr>
          <p:cNvSpPr>
            <a:spLocks noGrp="1"/>
          </p:cNvSpPr>
          <p:nvPr>
            <p:ph type="title"/>
          </p:nvPr>
        </p:nvSpPr>
        <p:spPr/>
        <p:txBody>
          <a:bodyPr/>
          <a:lstStyle/>
          <a:p>
            <a:r>
              <a:rPr lang="en-IN" dirty="0"/>
              <a:t>System Implementation Overview</a:t>
            </a:r>
          </a:p>
        </p:txBody>
      </p:sp>
      <p:sp>
        <p:nvSpPr>
          <p:cNvPr id="4" name="Rectangle 1">
            <a:extLst>
              <a:ext uri="{FF2B5EF4-FFF2-40B4-BE49-F238E27FC236}">
                <a16:creationId xmlns:a16="http://schemas.microsoft.com/office/drawing/2014/main" id="{1CCA4F1A-0786-409E-ACF6-7856CAD28A2E}"/>
              </a:ext>
            </a:extLst>
          </p:cNvPr>
          <p:cNvSpPr>
            <a:spLocks noGrp="1" noChangeArrowheads="1"/>
          </p:cNvSpPr>
          <p:nvPr>
            <p:ph idx="1"/>
          </p:nvPr>
        </p:nvSpPr>
        <p:spPr bwMode="auto">
          <a:xfrm>
            <a:off x="291445" y="2166717"/>
            <a:ext cx="12107945"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400" b="1" dirty="0">
                <a:solidFill>
                  <a:schemeClr val="tx1"/>
                </a:solidFill>
                <a:latin typeface="Avenir Next LT Pro (Body)"/>
              </a:rPr>
              <a:t>D</a:t>
            </a:r>
            <a:r>
              <a:rPr kumimoji="0" lang="en-US" altLang="en-US" sz="2400" b="1" i="0" u="none" strike="noStrike" cap="none" normalizeH="0" baseline="0" dirty="0">
                <a:ln>
                  <a:noFill/>
                </a:ln>
                <a:solidFill>
                  <a:schemeClr val="tx1"/>
                </a:solidFill>
                <a:effectLst/>
                <a:latin typeface="Avenir Next LT Pro (Body)"/>
              </a:rPr>
              <a:t>ata Collection &amp; Preprocessing</a:t>
            </a:r>
            <a:r>
              <a:rPr kumimoji="0" lang="en-US" altLang="en-US" sz="2400" b="0" i="0" u="none" strike="noStrike" cap="none" normalizeH="0" baseline="0" dirty="0">
                <a:ln>
                  <a:noFill/>
                </a:ln>
                <a:solidFill>
                  <a:schemeClr val="tx1"/>
                </a:solidFill>
                <a:effectLst/>
                <a:latin typeface="Avenir Next LT Pro (Body)"/>
              </a:rPr>
              <a:t>: Collecting patient data and preparing it for model training.</a:t>
            </a:r>
            <a:br>
              <a:rPr kumimoji="0" lang="en-US" altLang="en-US" sz="2400" b="0" i="0" u="none" strike="noStrike" cap="none" normalizeH="0" baseline="0" dirty="0">
                <a:ln>
                  <a:noFill/>
                </a:ln>
                <a:solidFill>
                  <a:schemeClr val="tx1"/>
                </a:solidFill>
                <a:effectLst/>
                <a:latin typeface="Avenir Next LT Pro (Body)"/>
              </a:rPr>
            </a:br>
            <a:r>
              <a:rPr kumimoji="0" lang="en-US" altLang="en-US" sz="2400" b="0" i="0" u="none" strike="noStrike" cap="none" normalizeH="0" baseline="0" dirty="0">
                <a:ln>
                  <a:noFill/>
                </a:ln>
                <a:solidFill>
                  <a:schemeClr val="tx1"/>
                </a:solidFill>
                <a:effectLst/>
                <a:latin typeface="Avenir Next LT Pro (Body)"/>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venir Next LT Pro (Body)"/>
              </a:rPr>
              <a:t>Model Training</a:t>
            </a:r>
            <a:r>
              <a:rPr kumimoji="0" lang="en-US" altLang="en-US" sz="2400" b="0" i="0" u="none" strike="noStrike" cap="none" normalizeH="0" baseline="0" dirty="0">
                <a:ln>
                  <a:noFill/>
                </a:ln>
                <a:solidFill>
                  <a:schemeClr val="tx1"/>
                </a:solidFill>
                <a:effectLst/>
                <a:latin typeface="Avenir Next LT Pro (Body)"/>
              </a:rPr>
              <a:t>: Using Random Forest for heart disease classification. </a:t>
            </a:r>
            <a:br>
              <a:rPr kumimoji="0" lang="en-US" altLang="en-US" sz="2400" b="0" i="0" u="none" strike="noStrike" cap="none" normalizeH="0" baseline="0" dirty="0">
                <a:ln>
                  <a:noFill/>
                </a:ln>
                <a:solidFill>
                  <a:schemeClr val="tx1"/>
                </a:solidFill>
                <a:effectLst/>
                <a:latin typeface="Avenir Next LT Pro (Body)"/>
              </a:rPr>
            </a:br>
            <a:endParaRPr kumimoji="0" lang="en-US" altLang="en-US" sz="2400" b="0" i="0" u="none" strike="noStrike" cap="none" normalizeH="0" baseline="0" dirty="0">
              <a:ln>
                <a:noFill/>
              </a:ln>
              <a:solidFill>
                <a:schemeClr val="tx1"/>
              </a:solidFill>
              <a:effectLst/>
              <a:latin typeface="Avenir Next LT Pro (Body)"/>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venir Next LT Pro (Body)"/>
              </a:rPr>
              <a:t>Web Application</a:t>
            </a:r>
            <a:r>
              <a:rPr kumimoji="0" lang="en-US" altLang="en-US" sz="2400" b="0" i="0" u="none" strike="noStrike" cap="none" normalizeH="0" baseline="0" dirty="0">
                <a:ln>
                  <a:noFill/>
                </a:ln>
                <a:solidFill>
                  <a:schemeClr val="tx1"/>
                </a:solidFill>
                <a:effectLst/>
                <a:latin typeface="Avenir Next LT Pro (Body)"/>
              </a:rPr>
              <a:t>: Developing a user-friendly interface using Flask. </a:t>
            </a:r>
            <a:br>
              <a:rPr kumimoji="0" lang="en-US" altLang="en-US" sz="2400" b="0" i="0" u="none" strike="noStrike" cap="none" normalizeH="0" baseline="0" dirty="0">
                <a:ln>
                  <a:noFill/>
                </a:ln>
                <a:solidFill>
                  <a:schemeClr val="tx1"/>
                </a:solidFill>
                <a:effectLst/>
                <a:latin typeface="Avenir Next LT Pro (Body)"/>
              </a:rPr>
            </a:br>
            <a:endParaRPr kumimoji="0" lang="en-US" altLang="en-US" sz="2400" b="0" i="0" u="none" strike="noStrike" cap="none" normalizeH="0" baseline="0" dirty="0">
              <a:ln>
                <a:noFill/>
              </a:ln>
              <a:solidFill>
                <a:schemeClr val="tx1"/>
              </a:solidFill>
              <a:effectLst/>
              <a:latin typeface="Avenir Next LT Pro (Body)"/>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venir Next LT Pro (Body)"/>
              </a:rPr>
              <a:t>Deployment &amp; Maintenance</a:t>
            </a:r>
            <a:r>
              <a:rPr kumimoji="0" lang="en-US" altLang="en-US" sz="2400" b="0" i="0" u="none" strike="noStrike" cap="none" normalizeH="0" baseline="0" dirty="0">
                <a:ln>
                  <a:noFill/>
                </a:ln>
                <a:solidFill>
                  <a:schemeClr val="tx1"/>
                </a:solidFill>
                <a:effectLst/>
                <a:latin typeface="Avenir Next LT Pro (Body)"/>
              </a:rPr>
              <a:t>: Hosting on cloud, monitoring system performance</a:t>
            </a:r>
            <a:r>
              <a:rPr kumimoji="0" lang="en-US" altLang="en-US" sz="24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1012315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4C8C8-CDDE-40AE-031E-9D11B311DEB8}"/>
              </a:ext>
            </a:extLst>
          </p:cNvPr>
          <p:cNvSpPr>
            <a:spLocks noGrp="1"/>
          </p:cNvSpPr>
          <p:nvPr>
            <p:ph type="title"/>
          </p:nvPr>
        </p:nvSpPr>
        <p:spPr/>
        <p:txBody>
          <a:bodyPr/>
          <a:lstStyle/>
          <a:p>
            <a:r>
              <a:rPr lang="en-IN" dirty="0"/>
              <a:t>Machine Learning Model</a:t>
            </a:r>
          </a:p>
        </p:txBody>
      </p:sp>
      <p:pic>
        <p:nvPicPr>
          <p:cNvPr id="4" name="Google Shape;71;p14">
            <a:extLst>
              <a:ext uri="{FF2B5EF4-FFF2-40B4-BE49-F238E27FC236}">
                <a16:creationId xmlns:a16="http://schemas.microsoft.com/office/drawing/2014/main" id="{B1B573C9-725C-11C1-BBC6-62D81388F4E3}"/>
              </a:ext>
            </a:extLst>
          </p:cNvPr>
          <p:cNvPicPr preferRelativeResize="0">
            <a:picLocks noGrp="1"/>
          </p:cNvPicPr>
          <p:nvPr>
            <p:ph idx="1"/>
          </p:nvPr>
        </p:nvPicPr>
        <p:blipFill rotWithShape="1">
          <a:blip r:embed="rId2">
            <a:alphaModFix/>
          </a:blip>
          <a:srcRect/>
          <a:stretch/>
        </p:blipFill>
        <p:spPr>
          <a:xfrm>
            <a:off x="2950590" y="1690688"/>
            <a:ext cx="5637228" cy="4875859"/>
          </a:xfrm>
          <a:prstGeom prst="rect">
            <a:avLst/>
          </a:prstGeom>
          <a:noFill/>
          <a:ln>
            <a:noFill/>
          </a:ln>
        </p:spPr>
      </p:pic>
    </p:spTree>
    <p:extLst>
      <p:ext uri="{BB962C8B-B14F-4D97-AF65-F5344CB8AC3E}">
        <p14:creationId xmlns:p14="http://schemas.microsoft.com/office/powerpoint/2010/main" val="15208258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C6B40-0C9F-D495-2534-2ADF22F064C2}"/>
              </a:ext>
            </a:extLst>
          </p:cNvPr>
          <p:cNvSpPr>
            <a:spLocks noGrp="1"/>
          </p:cNvSpPr>
          <p:nvPr>
            <p:ph type="title"/>
          </p:nvPr>
        </p:nvSpPr>
        <p:spPr/>
        <p:txBody>
          <a:bodyPr/>
          <a:lstStyle/>
          <a:p>
            <a:r>
              <a:rPr lang="en-IN" dirty="0"/>
              <a:t>Dataset</a:t>
            </a:r>
          </a:p>
        </p:txBody>
      </p:sp>
      <p:pic>
        <p:nvPicPr>
          <p:cNvPr id="5" name="Content Placeholder 4">
            <a:extLst>
              <a:ext uri="{FF2B5EF4-FFF2-40B4-BE49-F238E27FC236}">
                <a16:creationId xmlns:a16="http://schemas.microsoft.com/office/drawing/2014/main" id="{7FDCD1BB-F655-199E-B7BC-9FDF6E756383}"/>
              </a:ext>
            </a:extLst>
          </p:cNvPr>
          <p:cNvPicPr>
            <a:picLocks noGrp="1" noChangeAspect="1"/>
          </p:cNvPicPr>
          <p:nvPr>
            <p:ph idx="1"/>
          </p:nvPr>
        </p:nvPicPr>
        <p:blipFill>
          <a:blip r:embed="rId2"/>
          <a:stretch>
            <a:fillRect/>
          </a:stretch>
        </p:blipFill>
        <p:spPr>
          <a:xfrm>
            <a:off x="2143931" y="1586994"/>
            <a:ext cx="7669372" cy="4679762"/>
          </a:xfrm>
        </p:spPr>
      </p:pic>
    </p:spTree>
    <p:extLst>
      <p:ext uri="{BB962C8B-B14F-4D97-AF65-F5344CB8AC3E}">
        <p14:creationId xmlns:p14="http://schemas.microsoft.com/office/powerpoint/2010/main" val="27193117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1C144-693E-EF15-AE8C-F9EECB263679}"/>
              </a:ext>
            </a:extLst>
          </p:cNvPr>
          <p:cNvSpPr>
            <a:spLocks noGrp="1"/>
          </p:cNvSpPr>
          <p:nvPr>
            <p:ph type="title"/>
          </p:nvPr>
        </p:nvSpPr>
        <p:spPr/>
        <p:txBody>
          <a:bodyPr>
            <a:normAutofit fontScale="90000"/>
          </a:bodyPr>
          <a:lstStyle/>
          <a:p>
            <a:r>
              <a:rPr lang="en-IN" sz="4400" dirty="0">
                <a:latin typeface="Rockwell"/>
                <a:ea typeface="Rockwell"/>
                <a:cs typeface="Rockwell"/>
                <a:sym typeface="Rockwell"/>
              </a:rPr>
              <a:t>Data visualization</a:t>
            </a:r>
            <a:br>
              <a:rPr lang="en-IN" dirty="0"/>
            </a:br>
            <a:endParaRPr lang="en-IN" dirty="0"/>
          </a:p>
        </p:txBody>
      </p:sp>
      <p:pic>
        <p:nvPicPr>
          <p:cNvPr id="4" name="Google Shape;110;p19">
            <a:extLst>
              <a:ext uri="{FF2B5EF4-FFF2-40B4-BE49-F238E27FC236}">
                <a16:creationId xmlns:a16="http://schemas.microsoft.com/office/drawing/2014/main" id="{71BF02C1-471D-5853-639A-97CB60DBE03A}"/>
              </a:ext>
            </a:extLst>
          </p:cNvPr>
          <p:cNvPicPr preferRelativeResize="0">
            <a:picLocks noGrp="1"/>
          </p:cNvPicPr>
          <p:nvPr>
            <p:ph idx="1"/>
          </p:nvPr>
        </p:nvPicPr>
        <p:blipFill>
          <a:blip r:embed="rId2">
            <a:alphaModFix/>
          </a:blip>
          <a:srcRect l="2772" t="415" r="5754" b="2898"/>
          <a:stretch/>
        </p:blipFill>
        <p:spPr>
          <a:xfrm>
            <a:off x="2424259" y="1166731"/>
            <a:ext cx="7343482" cy="5326144"/>
          </a:xfrm>
          <a:prstGeom prst="rect">
            <a:avLst/>
          </a:prstGeom>
          <a:noFill/>
          <a:ln>
            <a:noFill/>
          </a:ln>
        </p:spPr>
      </p:pic>
    </p:spTree>
    <p:extLst>
      <p:ext uri="{BB962C8B-B14F-4D97-AF65-F5344CB8AC3E}">
        <p14:creationId xmlns:p14="http://schemas.microsoft.com/office/powerpoint/2010/main" val="16655048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186C7-ADC1-1E02-D2A5-71694FEEB4DC}"/>
              </a:ext>
            </a:extLst>
          </p:cNvPr>
          <p:cNvSpPr>
            <a:spLocks noGrp="1"/>
          </p:cNvSpPr>
          <p:nvPr>
            <p:ph type="title"/>
          </p:nvPr>
        </p:nvSpPr>
        <p:spPr/>
        <p:txBody>
          <a:bodyPr/>
          <a:lstStyle/>
          <a:p>
            <a:r>
              <a:rPr lang="en-IN" dirty="0"/>
              <a:t>Flask-Based Web Application</a:t>
            </a:r>
          </a:p>
        </p:txBody>
      </p:sp>
      <p:sp>
        <p:nvSpPr>
          <p:cNvPr id="3" name="Content Placeholder 2">
            <a:extLst>
              <a:ext uri="{FF2B5EF4-FFF2-40B4-BE49-F238E27FC236}">
                <a16:creationId xmlns:a16="http://schemas.microsoft.com/office/drawing/2014/main" id="{9D775CC3-8FDA-83EE-886E-C2F7942D05E7}"/>
              </a:ext>
            </a:extLst>
          </p:cNvPr>
          <p:cNvSpPr>
            <a:spLocks noGrp="1"/>
          </p:cNvSpPr>
          <p:nvPr>
            <p:ph idx="1"/>
          </p:nvPr>
        </p:nvSpPr>
        <p:spPr/>
        <p:txBody>
          <a:bodyPr/>
          <a:lstStyle/>
          <a:p>
            <a:r>
              <a:rPr lang="en-US" dirty="0"/>
              <a:t>The system is integrated into a user-friendly web application using Flask. The backend API handles user inputs, preprocesses the data, and applies the trained model to generate predictions. The frontend, designed using HTML, CSS, and JavaScript, provides an intuitive interface where users can enter their medical details. The prediction results are displayed, informing the user about potential heart disease risks.</a:t>
            </a:r>
            <a:endParaRPr lang="en-IN" dirty="0"/>
          </a:p>
        </p:txBody>
      </p:sp>
    </p:spTree>
    <p:extLst>
      <p:ext uri="{BB962C8B-B14F-4D97-AF65-F5344CB8AC3E}">
        <p14:creationId xmlns:p14="http://schemas.microsoft.com/office/powerpoint/2010/main" val="9249577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F5A06-9428-FDAE-C657-9B50BE5587D4}"/>
              </a:ext>
            </a:extLst>
          </p:cNvPr>
          <p:cNvSpPr>
            <a:spLocks noGrp="1"/>
          </p:cNvSpPr>
          <p:nvPr>
            <p:ph type="title"/>
          </p:nvPr>
        </p:nvSpPr>
        <p:spPr/>
        <p:txBody>
          <a:bodyPr/>
          <a:lstStyle/>
          <a:p>
            <a:r>
              <a:rPr lang="en-IN" dirty="0"/>
              <a:t>Future Enhancements</a:t>
            </a:r>
          </a:p>
        </p:txBody>
      </p:sp>
      <p:sp>
        <p:nvSpPr>
          <p:cNvPr id="4" name="Rectangle 1">
            <a:extLst>
              <a:ext uri="{FF2B5EF4-FFF2-40B4-BE49-F238E27FC236}">
                <a16:creationId xmlns:a16="http://schemas.microsoft.com/office/drawing/2014/main" id="{376487AE-C73F-9155-47E5-CDC9C9A9955F}"/>
              </a:ext>
            </a:extLst>
          </p:cNvPr>
          <p:cNvSpPr>
            <a:spLocks noGrp="1" noChangeArrowheads="1"/>
          </p:cNvSpPr>
          <p:nvPr>
            <p:ph idx="1"/>
          </p:nvPr>
        </p:nvSpPr>
        <p:spPr bwMode="auto">
          <a:xfrm>
            <a:off x="838200" y="2075349"/>
            <a:ext cx="10887789"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venir Next LT Pro (Body)"/>
              </a:rPr>
              <a:t>Integration with More Diseases:</a:t>
            </a:r>
            <a:r>
              <a:rPr kumimoji="0" lang="en-US" altLang="en-US" sz="2400" b="0" i="0" u="none" strike="noStrike" cap="none" normalizeH="0" baseline="0" dirty="0">
                <a:ln>
                  <a:noFill/>
                </a:ln>
                <a:solidFill>
                  <a:schemeClr val="tx1"/>
                </a:solidFill>
                <a:effectLst/>
                <a:latin typeface="Avenir Next LT Pro (Body)"/>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venir Next LT Pro (Body)"/>
              </a:rPr>
              <a:t>Predicting diabetes, hypertension, and stroke.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venir Next LT Pro (Body)"/>
              </a:rPr>
              <a:t>Real-time Data Processing:</a:t>
            </a:r>
            <a:r>
              <a:rPr kumimoji="0" lang="en-US" altLang="en-US" sz="2400" b="0" i="0" u="none" strike="noStrike" cap="none" normalizeH="0" baseline="0" dirty="0">
                <a:ln>
                  <a:noFill/>
                </a:ln>
                <a:solidFill>
                  <a:schemeClr val="tx1"/>
                </a:solidFill>
                <a:effectLst/>
                <a:latin typeface="Avenir Next LT Pro (Body)"/>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venir Next LT Pro (Body)"/>
              </a:rPr>
              <a:t>Wearable devices (smartwatches, fitness bands) for continuous monitoring.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venir Next LT Pro (Body)"/>
              </a:rPr>
              <a:t>Advanced ML Techniques:</a:t>
            </a:r>
            <a:r>
              <a:rPr kumimoji="0" lang="en-US" altLang="en-US" sz="2400" b="0" i="0" u="none" strike="noStrike" cap="none" normalizeH="0" baseline="0" dirty="0">
                <a:ln>
                  <a:noFill/>
                </a:ln>
                <a:solidFill>
                  <a:schemeClr val="tx1"/>
                </a:solidFill>
                <a:effectLst/>
                <a:latin typeface="Avenir Next LT Pro (Body)"/>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venir Next LT Pro (Body)"/>
              </a:rPr>
              <a:t>Deep learning models (Neural Networks, Transformers).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venir Next LT Pro (Body)"/>
              </a:rPr>
              <a:t>Mobile Application:</a:t>
            </a:r>
            <a:r>
              <a:rPr kumimoji="0" lang="en-US" altLang="en-US" sz="2400" b="0" i="0" u="none" strike="noStrike" cap="none" normalizeH="0" baseline="0" dirty="0">
                <a:ln>
                  <a:noFill/>
                </a:ln>
                <a:solidFill>
                  <a:schemeClr val="tx1"/>
                </a:solidFill>
                <a:effectLst/>
                <a:latin typeface="Avenir Next LT Pro (Body)"/>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venir Next LT Pro (Body)"/>
              </a:rPr>
              <a:t>AI-powered chatbot &amp; voice assistant for accessibility.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833264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1DD49-3704-9CC5-8AC8-07D388C3902D}"/>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52145B6C-2BDE-47A1-C176-E9A04C37289E}"/>
              </a:ext>
            </a:extLst>
          </p:cNvPr>
          <p:cNvSpPr>
            <a:spLocks noGrp="1"/>
          </p:cNvSpPr>
          <p:nvPr>
            <p:ph idx="1"/>
          </p:nvPr>
        </p:nvSpPr>
        <p:spPr/>
        <p:txBody>
          <a:bodyPr/>
          <a:lstStyle/>
          <a:p>
            <a:r>
              <a:rPr lang="en-US" dirty="0"/>
              <a:t>Machine learning-based heart disease prediction has the potential to transform early diagnosis and preventive healthcare. By integrating a Flask-based web application with cloud deployment, the system provides a scalable and accessible solution for users. Future advancements will focus on enhancing accuracy, real-time monitoring, and multi-disease prediction, further improving patient care and healthcare accessibility.</a:t>
            </a:r>
            <a:endParaRPr lang="en-IN" dirty="0"/>
          </a:p>
        </p:txBody>
      </p:sp>
    </p:spTree>
    <p:extLst>
      <p:ext uri="{BB962C8B-B14F-4D97-AF65-F5344CB8AC3E}">
        <p14:creationId xmlns:p14="http://schemas.microsoft.com/office/powerpoint/2010/main" val="24756261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1BBAF-1C2F-B305-A811-B8AFB5C454C7}"/>
              </a:ext>
            </a:extLst>
          </p:cNvPr>
          <p:cNvSpPr>
            <a:spLocks noGrp="1"/>
          </p:cNvSpPr>
          <p:nvPr>
            <p:ph type="title"/>
          </p:nvPr>
        </p:nvSpPr>
        <p:spPr/>
        <p:txBody>
          <a:bodyPr/>
          <a:lstStyle/>
          <a:p>
            <a:endParaRPr lang="en-IN"/>
          </a:p>
        </p:txBody>
      </p:sp>
      <p:pic>
        <p:nvPicPr>
          <p:cNvPr id="4100" name="Picture 4" descr="Thank you text Vector Images ...">
            <a:extLst>
              <a:ext uri="{FF2B5EF4-FFF2-40B4-BE49-F238E27FC236}">
                <a16:creationId xmlns:a16="http://schemas.microsoft.com/office/drawing/2014/main" id="{BBF458A0-ABC5-54B7-9286-F8E845FA84A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88971" y="762504"/>
            <a:ext cx="8014057" cy="53329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9271414"/>
      </p:ext>
    </p:extLst>
  </p:cSld>
  <p:clrMapOvr>
    <a:masterClrMapping/>
  </p:clrMapOvr>
</p:sld>
</file>

<file path=ppt/theme/theme1.xml><?xml version="1.0" encoding="utf-8"?>
<a:theme xmlns:a="http://schemas.openxmlformats.org/drawingml/2006/main" name="ExploreVTI">
  <a:themeElements>
    <a:clrScheme name="Custom 33">
      <a:dk1>
        <a:sysClr val="windowText" lastClr="000000"/>
      </a:dk1>
      <a:lt1>
        <a:sysClr val="window" lastClr="FFFFFF"/>
      </a:lt1>
      <a:dk2>
        <a:srgbClr val="201449"/>
      </a:dk2>
      <a:lt2>
        <a:srgbClr val="F3F0E9"/>
      </a:lt2>
      <a:accent1>
        <a:srgbClr val="E45221"/>
      </a:accent1>
      <a:accent2>
        <a:srgbClr val="4D4EE6"/>
      </a:accent2>
      <a:accent3>
        <a:srgbClr val="454B78"/>
      </a:accent3>
      <a:accent4>
        <a:srgbClr val="A3A3C1"/>
      </a:accent4>
      <a:accent5>
        <a:srgbClr val="7162FE"/>
      </a:accent5>
      <a:accent6>
        <a:srgbClr val="1EBE9B"/>
      </a:accent6>
      <a:hlink>
        <a:srgbClr val="F900A0"/>
      </a:hlink>
      <a:folHlink>
        <a:srgbClr val="954F72"/>
      </a:folHlink>
    </a:clrScheme>
    <a:fontScheme name="Custom 23">
      <a:majorFont>
        <a:latin typeface="Posterama"/>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xploreVTI" id="{157DDAE2-BFCD-43FD-9602-E5EFEAD66DC3}" vid="{04B6EBF8-4645-4305-9753-050B4204785C}"/>
    </a:ext>
  </a:extLst>
</a:theme>
</file>

<file path=docProps/app.xml><?xml version="1.0" encoding="utf-8"?>
<Properties xmlns="http://schemas.openxmlformats.org/officeDocument/2006/extended-properties" xmlns:vt="http://schemas.openxmlformats.org/officeDocument/2006/docPropsVTypes">
  <Template>Explore</Template>
  <TotalTime>32</TotalTime>
  <Words>313</Words>
  <Application>Microsoft Office PowerPoint</Application>
  <PresentationFormat>Widescreen</PresentationFormat>
  <Paragraphs>32</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Avenir Next LT Pro</vt:lpstr>
      <vt:lpstr>Avenir Next LT Pro (Body)</vt:lpstr>
      <vt:lpstr>AvenirNext LT Pro Medium</vt:lpstr>
      <vt:lpstr>Posterama</vt:lpstr>
      <vt:lpstr>Rockwell</vt:lpstr>
      <vt:lpstr>ExploreVTI</vt:lpstr>
      <vt:lpstr>Heart Disease Prediction</vt:lpstr>
      <vt:lpstr>Introduction</vt:lpstr>
      <vt:lpstr>System Implementation Overview</vt:lpstr>
      <vt:lpstr>Machine Learning Model</vt:lpstr>
      <vt:lpstr>Dataset</vt:lpstr>
      <vt:lpstr>Data visualization </vt:lpstr>
      <vt:lpstr>Flask-Based Web Application</vt:lpstr>
      <vt:lpstr>Future Enhancements</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dinesh s</dc:creator>
  <cp:lastModifiedBy>dinesh s</cp:lastModifiedBy>
  <cp:revision>2</cp:revision>
  <dcterms:created xsi:type="dcterms:W3CDTF">2025-03-08T15:02:20Z</dcterms:created>
  <dcterms:modified xsi:type="dcterms:W3CDTF">2025-04-27T16:18:58Z</dcterms:modified>
</cp:coreProperties>
</file>